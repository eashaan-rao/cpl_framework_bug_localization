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54864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Cross-Project Bug Localisation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196F3"/>
                </a:solidFill>
              </a:rPr>
              <a:t>TRANP-CNN Phase 1 — Experimental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F5F5"/>
                </a:solidFill>
              </a:rPr>
              <a:t>Can a bug localisation model trained on one project
transfer to another?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9090"/>
                </a:solidFill>
              </a:rPr>
              <a:t>20 Projects  •  94 Source→Target Pairs  •  4 Scenarios  •  5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090"/>
                </a:solidFill>
              </a:rPr>
              <a:t>PhD Study  |  TRANP-CNN Reranking Model  |  Python &amp; Java Codebases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Problem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What are we testing and how?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Bug localisation: given a bug report, rank source files by likelihood of containing the bug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Challenge: collecting labelled bug data (bug report → file mappings) is expensive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CPL hypothesis: a model trained on project A can transfer to project B with limited target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3791712" cy="47548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62656"/>
            <a:ext cx="371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2926080"/>
            <a:ext cx="3791712" cy="47548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480" y="2962656"/>
            <a:ext cx="371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Training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2926080"/>
            <a:ext cx="3791712" cy="47548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1480" y="2962656"/>
            <a:ext cx="371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01568"/>
            <a:ext cx="3791712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429000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WP-small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3401568"/>
            <a:ext cx="3791712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1480" y="3429000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20% target bugs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60" y="3401568"/>
            <a:ext cx="3791712" cy="457200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1480" y="3429000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Baseline: limited within-project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77056"/>
            <a:ext cx="3791712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04488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WP-large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3877056"/>
            <a:ext cx="3791712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1480" y="3904488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80% target bugs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3877056"/>
            <a:ext cx="3791712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1480" y="3904488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Upper bound: maximum within-project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52544"/>
            <a:ext cx="3791712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379976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CP-cold-start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5760" y="4352544"/>
            <a:ext cx="3791712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1480" y="4379976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100% source, 0% 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5760" y="4352544"/>
            <a:ext cx="3791712" cy="457200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1480" y="4379976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Can zero-shot transfer work?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28032"/>
            <a:ext cx="3791712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55464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CP-transfer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5760" y="4828032"/>
            <a:ext cx="3791712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1480" y="4855464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100% source + 20% target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5760" y="4828032"/>
            <a:ext cx="3791712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1480" y="4855464"/>
            <a:ext cx="371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Does CPL beat WP-small?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4DFF"/>
                </a:solidFill>
              </a:rPr>
              <a:t>Pipeline: BAAI/bge-code-v1 embeddings → FAISS top-300 retrieval → TRANP-CNN reranking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Five complementary lenses on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Top-1 / Top-5 / Top-10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</a:rPr>
              <a:t>Recall@K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Fraction of bugs where the GT file appears
in rank position ≤ K.
Top-10 = 0.80 means 80% of bugs
found in top 10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188720"/>
            <a:ext cx="3749039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216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</a:rPr>
              <a:t>Mean Average
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Precision averaged over all rank positions
where a relevant file appears.
Higher = better ranked, not just retrieved.
Range: (0, 1].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4389120"/>
          </a:xfrm>
          <a:prstGeom prst="rect">
            <a:avLst/>
          </a:prstGeom>
          <a:solidFill>
            <a:srgbClr val="F5F5F5"/>
          </a:solidFill>
          <a:ln w="1016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49039" cy="5029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16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A"/>
                </a:solidFill>
              </a:rPr>
              <a:t>Mean Reciprocal
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Mean of 1/rank across all bugs.
MRR=0.5 → GT file at rank 2 on average.
MRR=0.25 → rank 4 on average.
Range: (0, 1].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06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4DFF"/>
                </a:solidFill>
              </a:rPr>
              <a:t>Key insight: Top-K recall and MAP/MRR can disagree. A model may retrieve the file (high Top-10) but rank it 9th, not 1st (low MRR). We report all five metrics throughout.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Overall Results — All 5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Mean across 92–94 source→target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0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6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5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5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1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0760" y="1188720"/>
            <a:ext cx="1886712" cy="51206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6480" y="1225296"/>
            <a:ext cx="1813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WP-large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0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6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0.081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5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1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90760" y="1700784"/>
            <a:ext cx="1886712" cy="493776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6480" y="1728216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CP-transfer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70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6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5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1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0.189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0.251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0.197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90760" y="2212848"/>
            <a:ext cx="1886712" cy="493776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6480" y="2240280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0.226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WP-small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70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6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5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1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0.167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90760" y="2724912"/>
            <a:ext cx="1886712" cy="493776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6480" y="2752344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CP-cold-start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70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16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5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1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0.021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0.040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85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31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0.038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90760" y="3236976"/>
            <a:ext cx="1886712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36480" y="3264408"/>
            <a:ext cx="181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3977639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CP-transfer consistently sits between WP-small and WP-large across ALL metrics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Top-K gap to WP-large is small (0.007–0.017) — recall is nearly matched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MAP/MRR gap is larger (0.021–0.022) — ranking precision still lags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CP-cold-start is very low — zero-shot transfer without fine-tuning is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1: CPL Significantly Improves Ranking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CP-transfer vs WP-small — Wilcoxon signed-rank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937760" cy="4114800"/>
          </a:xfrm>
          <a:prstGeom prst="rect">
            <a:avLst/>
          </a:prstGeom>
          <a:solidFill>
            <a:srgbClr val="E8EAF0"/>
          </a:solidFill>
          <a:ln w="1524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📐  Wilcoxon Signed-Rank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A non-parametric paired statistical test.
Use case: we have 92 paired observations
(CP-transfer MRR, WP-small MRR) for the
same project pairs. We ask: is CP-transfer
systematically higher?
Null hypothesis H₀: no difference.
Alternative H₁: CP-transfer &gt; WP-small.
p &lt; 0.05 → reject H₀ → difference is real.
★ ★ ★ = p &lt; 0.001  ★ ★ = p &lt; 0.01  ★ = p &lt; 0.05  ns = not significant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188720"/>
            <a:ext cx="155905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225296"/>
            <a:ext cx="14859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63740" y="1188720"/>
            <a:ext cx="155905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9460" y="1225296"/>
            <a:ext cx="14859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188720"/>
            <a:ext cx="155905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225296"/>
            <a:ext cx="14859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Mean 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18420" y="1188720"/>
            <a:ext cx="155905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64140" y="1225296"/>
            <a:ext cx="14859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6459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6733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3740" y="16459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9460" y="16733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37.0%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6459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6733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18420" y="16459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64140" y="16733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0.118  (ns)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1031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1305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63740" y="21031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9460" y="21305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43.5%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1031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1305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+0.021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18420" y="2103120"/>
            <a:ext cx="155905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4140" y="21305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0.007  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5603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25877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3740" y="25603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9460" y="25877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47.8%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25603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5877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18420" y="25603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64140" y="25877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0.001  ★★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30175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30449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63740" y="30175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9460" y="30449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64.1%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30175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30449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18420" y="30175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64140" y="30449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0.006  ★★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4747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2120" y="35021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MRR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63740" y="34747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9460" y="35021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67.4%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34747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35021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18420" y="3474720"/>
            <a:ext cx="155905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64140" y="3502152"/>
            <a:ext cx="14859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0.005  ★★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4114800"/>
            <a:ext cx="6309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MAP and MRR: CP-transfer wins significantly (p &lt; 0.01) in 64–67% of pairs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Top-1 improvement is NOT significant — CPL improves ranking, not pinpoint precision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Interpretation: cross-project pre-training gives a better relative ordering of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2: CP-transfer Matches WP-large on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Top-K and MAP/MRR tell different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83921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7660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260" y="1188720"/>
            <a:ext cx="283921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8980" y="1225296"/>
            <a:ext cx="27660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CP-transfer ≥ WP-large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283921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25296"/>
            <a:ext cx="27660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Within 10% of WP-large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8260" y="1188720"/>
            <a:ext cx="283921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3980" y="1225296"/>
            <a:ext cx="27660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Mean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459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6733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3260" y="16459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8980" y="16733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54.3% (50/92)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459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6733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62.0% (57/92)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8260" y="16459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3980" y="16733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1031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305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3260" y="21031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8980" y="21305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52.2% (48/92)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1031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1305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57.6% (53/92)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8260" y="21031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3980" y="21305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5603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5877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3260" y="25603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8980" y="25877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53.3% (49/92)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5603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5877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63.0% (58/92)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38260" y="2560320"/>
            <a:ext cx="283921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83980" y="25877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0175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0449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23260" y="30175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68980" y="30449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30.4% (28/92)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0175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0449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41.3% (38/92)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38260" y="30175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3980" y="30449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4747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5021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MRR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23260" y="34747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68980" y="35021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32.6% (30/92)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34747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5021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47.8% (44/92)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8260" y="3474720"/>
            <a:ext cx="2839212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3980" y="3502152"/>
            <a:ext cx="2766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4160520"/>
            <a:ext cx="111556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For RECALL (Top-K): CP-transfer matches or beats WP-large in 52–54% of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For RANKING (MAP/MRR): WP-large retains advantage (~70% of pairs)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Practical implication: for tools showing a shortlist of 10 files, CP-transfer ≈ WP-large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CP-transfer uses the same 20% target data as WP-small — no extra annotation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3: CPL Benefit is 3–4× Larger for Data-Scarce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CPL is most valuable exactly where it is most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267712" cy="5257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194560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Target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267712" cy="5257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25296"/>
            <a:ext cx="2194560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Top-5 gain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88720"/>
            <a:ext cx="2267712" cy="5257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225296"/>
            <a:ext cx="2194560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Top-10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188720"/>
            <a:ext cx="2267712" cy="5257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225296"/>
            <a:ext cx="2194560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 gain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188720"/>
            <a:ext cx="2267712" cy="5257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225296"/>
            <a:ext cx="2194560" cy="48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MRR gain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14500"/>
            <a:ext cx="2267712" cy="50749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4193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Few bugs (≤228 bugs, n=48)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714500"/>
            <a:ext cx="2267712" cy="50749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74193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714500"/>
            <a:ext cx="2267712" cy="50749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74193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714500"/>
            <a:ext cx="2267712" cy="50749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4193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714500"/>
            <a:ext cx="2267712" cy="50749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74193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240280"/>
            <a:ext cx="2267712" cy="50749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26771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Many bugs (&gt;228 bugs, n=46)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240280"/>
            <a:ext cx="2267712" cy="50749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26771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240280"/>
            <a:ext cx="2267712" cy="50749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26771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240280"/>
            <a:ext cx="2267712" cy="50749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26771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240280"/>
            <a:ext cx="2267712" cy="50749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226771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6060"/>
            <a:ext cx="2267712" cy="50749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79349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Ratio (few / many)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766060"/>
            <a:ext cx="2267712" cy="50749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279349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4.9×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2766060"/>
            <a:ext cx="2267712" cy="50749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279349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6.1×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2766060"/>
            <a:ext cx="2267712" cy="50749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279349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2.6×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2766060"/>
            <a:ext cx="2267712" cy="50749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55480" y="2793492"/>
            <a:ext cx="2194560" cy="47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2.7×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474720"/>
            <a:ext cx="11155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Split at median target bug count (228 bugs) — roughly equal group sizes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CPL gain = CP-transfer MRR − WP-small MRR for the same pair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For data-scarce targets: mean Top-10 gain = +0.043 (significant improvement)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For data-rich targets: gain drops to +0.007 — WP-large is already adequate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Deployment recommendation: prefer CPL when target has &lt; 200 historical bugs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4: Target Codebase Size is the Dominant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Spearman correlation analysis across all 5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846320" cy="4206240"/>
          </a:xfrm>
          <a:prstGeom prst="rect">
            <a:avLst/>
          </a:prstGeom>
          <a:solidFill>
            <a:srgbClr val="E8EAF0"/>
          </a:solidFill>
          <a:ln w="1524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📐  Spearman Rank Correlation (ρ)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Measures how monotonically two variables
are related — without assuming linearity.
ρ = +1.0 → perfect positive relationship
ρ = −1.0 → perfect negative relationship
ρ =  0.0 → no relationship
Significance: p &lt; 0.05 needed to claim the
correlation is not due to chance.
Example: ρ(tgt_LoC, Top-10) = −0.855***
means: as target codebase gets larger,
Top-10 recall drops very consistently.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188720"/>
            <a:ext cx="1280160" cy="4049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225296"/>
            <a:ext cx="1207008" cy="36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188720"/>
            <a:ext cx="1280160" cy="4049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225296"/>
            <a:ext cx="1207008" cy="36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Top-10 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6136" y="1188720"/>
            <a:ext cx="1280160" cy="4049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225296"/>
            <a:ext cx="1207008" cy="36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 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188720"/>
            <a:ext cx="1280160" cy="4049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225296"/>
            <a:ext cx="1207008" cy="36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MRR 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43032" y="1188720"/>
            <a:ext cx="1280160" cy="404948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88752" y="1225296"/>
            <a:ext cx="1207008" cy="36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593668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621100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tgt_LoC (target size)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47688" y="1593668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1621100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−0.855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1593668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1621100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−0.652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44584" y="1593668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1621100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−0.667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43032" y="1593668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88752" y="1621100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★★★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1998617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026049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tgt_bug_verbosity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47688" y="1998617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2026049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+0.333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46136" y="1998617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1856" y="2026049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+0.383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44584" y="1998617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026049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+0.297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43032" y="1998617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88752" y="2026049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★★/★★★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2403565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2430997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tgt_n_bugs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47688" y="2403565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2430997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+0.134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46136" y="2403565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1856" y="2430997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+0.311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4584" y="2403565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0304" y="2430997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+0.319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43032" y="2403565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88752" y="2430997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ns / ★★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2808514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0" y="2835946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src_LoC (source size)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47688" y="2808514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93408" y="2835946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+0.274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46136" y="2808514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1856" y="2835946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+0.252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44584" y="2808514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0304" y="2835946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+0.259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543032" y="2808514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88752" y="2835946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★★ / 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3213462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0" y="3240894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src_n_bugs (source bugs)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47688" y="3213462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93408" y="3240894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−0.045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46136" y="3213462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91856" y="3240894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3213462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90304" y="3240894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+0.070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43032" y="3213462"/>
            <a:ext cx="1280160" cy="386660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88752" y="3240894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ns 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3618411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0" y="3645843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domain_gap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47688" y="3618411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93408" y="3645843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+0.116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46136" y="3618411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991856" y="3645843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44584" y="3618411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90304" y="3645843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+0.038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43032" y="3618411"/>
            <a:ext cx="1280160" cy="386660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588752" y="3645843"/>
            <a:ext cx="1207008" cy="35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ns all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49240" y="4206240"/>
            <a:ext cx="6492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tgt_LoC dominates: ρ = −0.855 for Top-10 — large codebase = harder localisation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Source features (bugs, LoC) are weak / non-significant for MRR and MAP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Domain gap has NO significant predictive power — dissimilar projects still transfer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5: FAISS Retrieval is Not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pct_unreachable = 0% — every failure is a model ranking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34440"/>
            <a:ext cx="576072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CAF50"/>
                </a:solidFill>
              </a:rPr>
              <a:t>pct_unreachable = 0.00%  across all 94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233A"/>
                </a:solidFill>
              </a:rPr>
              <a:t>Every ground-truth file was present in FAISS top-300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1460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Pipeline: FAISS retrieves top-300 files → TRANP-CNN reranks them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If GT file is NOT in top-300: model cannot fix it (unreachable)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If GT file IS in top-300 but ranked below top-10: that is a model ranking failure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Our result: 0% unreachable → ALL failures are ranking failures, not retrieval failures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Implication: improving the reranking architecture directly improves all metrics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Increasing TOP_K_CANDIDATES beyond 300 will not help — embeddings are already sufficient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This validates the research direction: better reranker (transformer, GNN) = better results</a:t>
            </a:r>
          </a:p>
        </p:txBody>
      </p:sp>
      <p:pic>
        <p:nvPicPr>
          <p:cNvPr id="12" name="Picture 11" descr="mod3_stacked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3444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Finding 6: CPL is Not Commutative — Direction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Showcase Pair A: matplotlib ↔ jupyterlab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267712" cy="5486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267712" cy="5486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22529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WP-small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88720"/>
            <a:ext cx="2267712" cy="5486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22529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WP-large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188720"/>
            <a:ext cx="2267712" cy="5486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22529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CP-cold-start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188720"/>
            <a:ext cx="2267712" cy="5486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22529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CP-transfer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37360"/>
            <a:ext cx="2267712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64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matplotlib → jupyterlab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737360"/>
            <a:ext cx="2267712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1764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0.438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737360"/>
            <a:ext cx="2267712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764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0.554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737360"/>
            <a:ext cx="2267712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64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737360"/>
            <a:ext cx="2267712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76479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0.614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286000"/>
            <a:ext cx="226771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31343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jupyterlab → matplotlib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286000"/>
            <a:ext cx="226771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31343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0.372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286000"/>
            <a:ext cx="226771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231343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0.294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286000"/>
            <a:ext cx="226771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231343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0.320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286000"/>
            <a:ext cx="2267712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2313432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0.236</a:t>
            </a:r>
          </a:p>
        </p:txBody>
      </p:sp>
      <p:pic>
        <p:nvPicPr>
          <p:cNvPr id="38" name="Picture 37" descr="commutativity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71800"/>
            <a:ext cx="7132320" cy="3383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98079" y="301752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Same domain gap (0.972), same two projects — just swapped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Forward: jupyterlab = 39K LoC target → easy to rank → CPL wins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Reverse: matplotlib = 249K LoC target → correct file buried → CPL hurts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WP-large even loses to WP-small for jupyterlab→matplotlib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Rule: TARGET codebase size determines difficulty, not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Showcase Pair B: numpy → jupyterlab  (Best CPL Performer)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Top-10 recall = 100% for WP-large and CP-transfer; 33× improvement over FAISS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63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20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69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26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81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8760" y="1188720"/>
            <a:ext cx="972312" cy="4419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4480" y="1225296"/>
            <a:ext cx="899160" cy="40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WP-large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63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20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0.565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469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26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81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38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18760" y="1630680"/>
            <a:ext cx="972312" cy="42367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480" y="165811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0.724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CP-transfer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63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20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0.478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469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926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1.000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1.000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81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38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18760" y="2072640"/>
            <a:ext cx="972312" cy="42367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64480" y="210007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0.666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WP-small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563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20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469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926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0.870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1.000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81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38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18760" y="2514600"/>
            <a:ext cx="972312" cy="423672"/>
          </a:xfrm>
          <a:prstGeom prst="rect">
            <a:avLst/>
          </a:prstGeom>
          <a:solidFill>
            <a:srgbClr val="E3F2FD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64480" y="254203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0.464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CP-cold-start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563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020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0.130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469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926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0.348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375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32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0.565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81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38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18760" y="2956560"/>
            <a:ext cx="972312" cy="423672"/>
          </a:xfrm>
          <a:prstGeom prst="rect">
            <a:avLst/>
          </a:prstGeom>
          <a:solidFill>
            <a:srgbClr val="FFF3E0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64480" y="298399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0.258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FAISS baseline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563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020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469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926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832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281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738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18760" y="3398520"/>
            <a:ext cx="972312" cy="42367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64480" y="3425952"/>
            <a:ext cx="899160" cy="38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0.022</a:t>
            </a:r>
          </a:p>
        </p:txBody>
      </p:sp>
      <p:pic>
        <p:nvPicPr>
          <p:cNvPr id="80" name="Picture 79" descr="all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577840" cy="521208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65760" y="40233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CP-transfer MRR 0.666 ≈ WP-large 0.724 (gap = 0.058, ~8%)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FAISS MRR = 0.022 → model achieves 33× improvement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jupyterlab: 39K LoC, 197 bugs — ideal CPL target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Zero-shot (cold-start): MRR = 0.258 — non-trivial transfer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Showcase Pair C: numpy → scipy  (Hard Target Ceiling)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438K LoC codebase — model improves ranks but cannot break top-10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07899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188720"/>
            <a:ext cx="107899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22529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188720"/>
            <a:ext cx="107899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22529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188720"/>
            <a:ext cx="107899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22529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Top-10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188720"/>
            <a:ext cx="107899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22529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6459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6733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WP-large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16459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16733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6459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16733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6459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16733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6459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6733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1031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1305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CP-transfer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21031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21305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1031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1305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1031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1305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1031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1305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5603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5877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WP-small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25603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25877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25603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25877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25603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03320" y="25877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5603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25877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0175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044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CP-cold-start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30175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08760" y="3044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0175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06040" y="3044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0175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03320" y="3044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3017520"/>
            <a:ext cx="1078992" cy="438912"/>
          </a:xfrm>
          <a:prstGeom prst="rect">
            <a:avLst/>
          </a:prstGeom>
          <a:solidFill>
            <a:srgbClr val="FFCCB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3044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0.006</a:t>
            </a:r>
          </a:p>
        </p:txBody>
      </p:sp>
      <p:pic>
        <p:nvPicPr>
          <p:cNvPr id="58" name="Picture 57" descr="rank_displaceme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6035040" cy="292608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65760" y="3703320"/>
            <a:ext cx="11155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scipy: 438,217 LoC — largest codebase in our dataset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pct_unreachable = 0% — GT file IS in FAISS top-300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Mean rank displacement = +131 (WP-large) — model IS improving ranks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But: moving from rank 167 to rank 36 is still outside top-10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This is a TARGET VIABILITY failure, not a source selection failure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No source project can fix a 438K LoC target — architecture must 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Source Project Selection — Can We Pick the Best Source?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Kendall τ analysis across 12 targets with ≥3 source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4846320" cy="3931920"/>
          </a:xfrm>
          <a:prstGeom prst="rect">
            <a:avLst/>
          </a:prstGeom>
          <a:solidFill>
            <a:srgbClr val="E8EAF0"/>
          </a:solidFill>
          <a:ln w="1524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📐  Kendall Rank Correlation (τ)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Measures whether one ranking agrees with
another. For each target project:
• Sort sources by heuristic score
• Sort sources by actual CP-transfer MRR
• τ = agreement between these two orderings
τ = +1 → heuristic perfectly matches oracle
τ = −1 → heuristic is perfectly reversed
τ = 0  → heuristic is random
We also use Hit@1: did the top-ranked source
by heuristic turn out to be the best source
by actual performance?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188720"/>
            <a:ext cx="160477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225296"/>
            <a:ext cx="15316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2300" y="1188720"/>
            <a:ext cx="160477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8020" y="1225296"/>
            <a:ext cx="15316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Hit@1 (MRR)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188720"/>
            <a:ext cx="160477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225296"/>
            <a:ext cx="15316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Hit@1 (MAP)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18420" y="1188720"/>
            <a:ext cx="1604772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64140" y="1225296"/>
            <a:ext cx="15316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Mean τ (MRR)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1645920"/>
            <a:ext cx="160477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6733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Oracle (upper bound)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2300" y="1645920"/>
            <a:ext cx="160477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8020" y="16733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645920"/>
            <a:ext cx="160477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6733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18420" y="1645920"/>
            <a:ext cx="1604772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64140" y="16733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+1.00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2103120"/>
            <a:ext cx="1604772" cy="43891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1305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Most-bugs heuristic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72300" y="2103120"/>
            <a:ext cx="1604772" cy="43891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8020" y="21305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41.7%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2103120"/>
            <a:ext cx="1604772" cy="43891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1305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41.7%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18420" y="2103120"/>
            <a:ext cx="1604772" cy="438912"/>
          </a:xfrm>
          <a:prstGeom prst="rect">
            <a:avLst/>
          </a:prstGeom>
          <a:solidFill>
            <a:srgbClr val="FCE4EC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4140" y="21305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+0.253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2560320"/>
            <a:ext cx="160477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25877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Random (lower bound)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72300" y="2560320"/>
            <a:ext cx="160477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8020" y="25877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~15%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2560320"/>
            <a:ext cx="160477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25877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~15%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18420" y="2560320"/>
            <a:ext cx="1604772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64140" y="2587752"/>
            <a:ext cx="15316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~0.00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20040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Most-bugs = pick the source with the most bug reports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Hit@1 = 41.7%: correct in fewer than half of cases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τ = +0.253: positive ordering signal — larger sources tend to be better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Captures ~53% of the gap between random and oracle selection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▸ Source selection is PARTIALLY solved — not an algorithm, a useful heuristic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Practical Decision Framework for CPL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Two-phase strategy: target viability first, then source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577840" cy="41148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196F3"/>
                </a:solidFill>
              </a:rPr>
              <a:t>Phase 1 — Target Viability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Target LoC &gt; 200K?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→ CPL will underperform regardless of source (ρ = −0.855)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Bug report verbosity very low (&lt; 30 words)?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→ Insufficient signal for any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Target has &gt; 300 historical bugs?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→ WP-large may be more reliable; CPL gain smaller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✓  If target passes: proceed to source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760720" cy="4114800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61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1E63"/>
                </a:solidFill>
              </a:rPr>
              <a:t>Phase 2 — Source Selection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S1: Default — pick source with MOST bug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      (Hit@1 = 41.7%, Kendall τ = +0.25)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S2: Among tied sources — prefer larger codebase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      (src_LoC has weak positive signal: ρ ≈ +0.27)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S3: DO NOT use domain gap as filter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      (ρ &lt; 0.12, non-significant for all metrics)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S4: DO NOT use bug/code similarity as ranking signal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      (no significant correlation in our dataset)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4DFF"/>
                </a:solidFill>
              </a:rPr>
              <a:t>This is a set of strategies, not an algorithm. Hit@1 = 41.7% means the heuristic fails 58% of the time. Learned source selection is an open research problem.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Contributions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What this study establishes for the CPL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91712" cy="444137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3718560" cy="40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5760" y="1188720"/>
            <a:ext cx="3791712" cy="444137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1480" y="1225296"/>
            <a:ext cx="3718560" cy="40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5760" y="1188720"/>
            <a:ext cx="3791712" cy="444137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31480" y="1225296"/>
            <a:ext cx="3718560" cy="407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632857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660289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CPL improves ranking over WP-small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5760" y="1632857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1480" y="1660289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67.4% win rate, p=0.005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5760" y="1632857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1480" y="1660289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MRR, 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76994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104426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CPL achieves WP-large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5760" y="2076994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1480" y="2104426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53% pairs Top-10 match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5760" y="2076994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1480" y="2104426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21131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548563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CPL most valuable for data-scarce targets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75760" y="2521131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1480" y="2548563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3–4× gain, few-bug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85760" y="2521131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1480" y="2548563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Top-10, MRR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965268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992700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Target LoC is dominant predictor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5760" y="2965268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21480" y="2992700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ρ = −0.855 for Top-10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5760" y="2965268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1480" y="2992700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All metrics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409405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36837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Source selection: most-bugs heuristic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75760" y="3409405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1480" y="3436837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Hit@1=41.7%, τ=+0.25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85760" y="3409405"/>
            <a:ext cx="3791712" cy="425849"/>
          </a:xfrm>
          <a:prstGeom prst="rect">
            <a:avLst/>
          </a:prstGeom>
          <a:solidFill>
            <a:srgbClr val="F5F5F5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31480" y="3436837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MRR, 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853542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880974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Architecture is the bottleneck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75760" y="3853542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0" y="3880974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pct_unreachable = 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85760" y="3853542"/>
            <a:ext cx="3791712" cy="425849"/>
          </a:xfrm>
          <a:prstGeom prst="rect">
            <a:avLst/>
          </a:prstGeom>
          <a:solidFill>
            <a:srgbClr val="FFFFFF"/>
          </a:solidFill>
          <a:ln w="6350">
            <a:solidFill>
              <a:srgbClr val="909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31480" y="3880974"/>
            <a:ext cx="3718560" cy="38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A"/>
                </a:solidFill>
              </a:rPr>
              <a:t>Diagnostic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44805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For new projects (&lt; 200 historical bugs): CPL is the recommended default strategy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Domain gap filtering is NOT needed — dissimilar projects can still transfer well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Better reranking architecture is the clearest path to higher MRR/MAP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3A"/>
                </a:solidFill>
              </a:rPr>
              <a:t>▸ Source selection remains an open problem — 58% of the time the heuristic misses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F5F5"/>
                </a:solidFill>
              </a:rPr>
              <a:t>Honest framing +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>TRANP-CNN Phase 1 — CPL Results  |  PhD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3A"/>
                </a:solidFill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Mean MRR 0.20–0.25 is low vs within-project SOTA (&gt; 0.5) — but correct comparison is our FAISS baseline, not cross-study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Results include Python and Java; generalisation to C++, JS, polyglot unknown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Large targets (scipy, 438K LoC) dominate the low-performance tail — stratified reporting is more informative than overall means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CP-cold-start (MAP=0.038) is not practically useful — zero-shot still needs fine-tuning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Source selection Hit@1 = 41.7% — heuristic works in fewer than half of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33A"/>
                </a:solidFill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Learned source selection meta-model: train on pair outcomes to predict source quality for unseen targets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Multi-source ensembling: combine all sources rather than picking one — may outperform selection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Transformer/GNN reranker: replace TRANP-CNN CNN architecture to reduce the ranking gap vs WP-large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COOBA comparison: run same Phase 1 analysis for COOBA (GNN-based) and compare transfer behaviour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▸ Large-codebase architecture: hierarchical or retrieval-augmented reranker for &gt; 200K LoC targets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349240"/>
            <a:ext cx="1161288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Core message: CPL is the right strategy for data-limited targets. The bottleneck is now the reranking architecture, not the retrieval or the transfer mechanism.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02920" cy="15087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1E63"/>
                </a:solidFill>
              </a:rPr>
              <a:t>CP-transfer beats WP-small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67.4% of pairs (p=0.005) — ranking quality improves significantly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02920" cy="1508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96F3"/>
                </a:solidFill>
              </a:rPr>
              <a:t>Top-K recall matches WP-large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53% of pairs on Top-10 — same recall, 4× less target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6324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63240"/>
            <a:ext cx="502920" cy="1508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2044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Most valuable when data is scarce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3–4× gain for targets with &lt; 228 bugs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063240"/>
            <a:ext cx="502920" cy="1508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4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800"/>
                </a:solidFill>
              </a:rPr>
              <a:t>Target size governs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118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tgt_LoC ρ = −0.855 for Top-10 — largest predictor by far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5488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754880"/>
            <a:ext cx="502920" cy="15087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1208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4DFF"/>
                </a:solidFill>
              </a:rPr>
              <a:t>Source selection = heuristic, not 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Most-bugs heuristic: Hit@1 = 41.7%, τ = +0.25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754880"/>
            <a:ext cx="5577840" cy="1508760"/>
          </a:xfrm>
          <a:prstGeom prst="rect">
            <a:avLst/>
          </a:prstGeom>
          <a:solidFill>
            <a:srgbClr val="252D3D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754880"/>
            <a:ext cx="502920" cy="1508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21208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846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Architecture is the remaining challenge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3035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</a:rPr>
              <a:t>pct_unreachable = 0% — improve reranker, not retrieval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090"/>
                </a:solidFill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