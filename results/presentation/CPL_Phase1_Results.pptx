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88952" cy="54864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Cross-Project Bug Localisation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196F3"/>
                </a:solidFill>
              </a:rPr>
              <a:t>TRANP-CNN Phase 1 — Experimental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F5F5F5"/>
                </a:solidFill>
              </a:rPr>
              <a:t>Can a bug localisation model trained on one project
transfer to another?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9090"/>
                </a:solidFill>
              </a:rPr>
              <a:t>14 Python Projects  •  87 Source→Target Pairs  •  4 Scenarios  •  5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9090"/>
                </a:solidFill>
              </a:rPr>
              <a:t>PhD Study  |  TRANP-CNN Reranking Model  |  98-Project Curated Corpus  |  Python Scope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Dataset Curation: From 500+ Repos to 14 Python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Multi-stage filtering ensures statistical adequacy and language homogeneity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3566160" cy="3200400"/>
          </a:xfrm>
          <a:prstGeom prst="rect">
            <a:avLst/>
          </a:prstGeom>
          <a:solidFill>
            <a:srgbClr val="1A233A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500+
Candidates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Across 5 benchmarks:
Bench4BL, BeetleBox,
LCA, SWE-bench,
Ye et 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23774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C4DFF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234440"/>
            <a:ext cx="3566160" cy="3200400"/>
          </a:xfrm>
          <a:prstGeom prst="rect">
            <a:avLst/>
          </a:prstGeom>
          <a:solidFill>
            <a:srgbClr val="2196F3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325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98
Repositories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Language-stratified filter:
• Python/Java ≥ 100 bugs
• Other langs ≥ 20 bugs
41 Python, 34 Java,
9 Kotlin, 6 JS, 5 C++, 3 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774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C4DFF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566160" cy="3200400"/>
          </a:xfrm>
          <a:prstGeom prst="rect">
            <a:avLst/>
          </a:prstGeom>
          <a:solidFill>
            <a:srgbClr val="E91E63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325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14 Python
Projects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Phase 1 scope:
Python-only baseline
(87 pairs, 345 runs)
LoC: 39K–1M
Bugs: 100–789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63440"/>
            <a:ext cx="11430000" cy="1508760"/>
          </a:xfrm>
          <a:prstGeom prst="rect">
            <a:avLst/>
          </a:prstGeom>
          <a:solidFill>
            <a:srgbClr val="E8EAF0"/>
          </a:solidFill>
          <a:ln w="127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Domain Gap Measurement (Logistic Regression on Blob Embeddings)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For each source→target pair: train LogisticRegression on BAAI/bge-code-v1 file embeddings from both projects.  Classification accuracy = domain gap.  Rationale: (1) Embeddings are semantically rich → linear separability directly measures embedding-space overlap.  (2) Logistic regression is a well-understood low-capacity probe — accuracy near 0.5 = similar projects; near 1.0 = disjoint.  (3) Avoids overfitting artefacts of non-linear classifiers on small corpora.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Research Problem &amp; 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What are we testing and how?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Bug localisation: given a bug report, rank source files by likelihood of containing the bug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Challenge: collecting labelled bug data (bug report → file mappings) is expensive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CPL hypothesis: a model trained on project A can transfer to project B with limited target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926080"/>
            <a:ext cx="3791712" cy="47548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62656"/>
            <a:ext cx="371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75760" y="2926080"/>
            <a:ext cx="3791712" cy="47548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1480" y="2962656"/>
            <a:ext cx="371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Training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5760" y="2926080"/>
            <a:ext cx="3791712" cy="47548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1480" y="2962656"/>
            <a:ext cx="371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Research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01568"/>
            <a:ext cx="3791712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429000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WP-small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5760" y="3401568"/>
            <a:ext cx="3791712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1480" y="3429000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20% target bugs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60" y="3401568"/>
            <a:ext cx="3791712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31480" y="3429000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Baseline: limited within-project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77056"/>
            <a:ext cx="3791712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904488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WP-large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75760" y="3877056"/>
            <a:ext cx="3791712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21480" y="3904488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80% target bugs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85760" y="3877056"/>
            <a:ext cx="3791712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31480" y="3904488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Upper bound: maximum within-project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52544"/>
            <a:ext cx="3791712" cy="457200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379976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CP-cold-start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5760" y="4352544"/>
            <a:ext cx="3791712" cy="457200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1480" y="4379976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100% source, 0% target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5760" y="4352544"/>
            <a:ext cx="3791712" cy="457200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1480" y="4379976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Can zero-shot transfer work?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28032"/>
            <a:ext cx="3791712" cy="457200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855464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CP-transfer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75760" y="4828032"/>
            <a:ext cx="3791712" cy="457200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21480" y="4855464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100% source + 20% target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85760" y="4828032"/>
            <a:ext cx="3791712" cy="457200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31480" y="4855464"/>
            <a:ext cx="371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Does CPL beat WP-small?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C4DFF"/>
                </a:solidFill>
              </a:rPr>
              <a:t>Pipeline: BAAI/bge-code-v1 embeddings → FAISS top-300 retrieval → TRANP-CNN reranking  |  14 Python projects, 87 pairs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Five complementary lenses on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3749039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3749039" cy="5029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1615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Top-1 / Top-5 / Top-10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83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A"/>
                </a:solidFill>
              </a:rPr>
              <a:t>Recall@K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8600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Fraction of bugs where the GT file appears
in rank position ≤ K.
Top-10 = 0.80 means 80% of bugs
found in top 10 candidates.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188720"/>
            <a:ext cx="3749039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188720"/>
            <a:ext cx="3749039" cy="5029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121615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1783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A"/>
                </a:solidFill>
              </a:rPr>
              <a:t>Mean Average
Precision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228600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Precision averaged over all rank positions
where a relevant file appears.
Higher = better ranked, not just retrieved.
Range: (0, 1].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49039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188720"/>
            <a:ext cx="3749039" cy="5029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21615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783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A"/>
                </a:solidFill>
              </a:rPr>
              <a:t>Mean Reciprocal
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28600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Mean of 1/rank across all bugs.
MRR=0.5 → GT file at rank 2 on average.
MRR=0.25 → rank 4 on average.
Range: (0, 1].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8064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C4DFF"/>
                </a:solidFill>
              </a:rPr>
              <a:t>Key insight: Top-K recall and MAP/MRR can disagree. A model may retrieve the file (high Top-10) but rank it 9th, not 1st (low MRR). We report all five metrics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Overall Results — All 5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Mean across 87 Python source→target pairs  |  SOTA cross-project range: MAP/MRR ≈ 0.3–0.5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1886712" cy="51206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25296"/>
            <a:ext cx="1813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70760" y="1188720"/>
            <a:ext cx="1886712" cy="51206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16480" y="1225296"/>
            <a:ext cx="1813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75760" y="1188720"/>
            <a:ext cx="1886712" cy="51206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1480" y="1225296"/>
            <a:ext cx="1813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188720"/>
            <a:ext cx="1886712" cy="51206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25296"/>
            <a:ext cx="1813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85760" y="1188720"/>
            <a:ext cx="1886712" cy="51206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1480" y="1225296"/>
            <a:ext cx="1813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90760" y="1188720"/>
            <a:ext cx="1886712" cy="51206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36480" y="1225296"/>
            <a:ext cx="1813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00784"/>
            <a:ext cx="1886712" cy="49377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728216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WP-large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0760" y="1700784"/>
            <a:ext cx="1886712" cy="49377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6480" y="1728216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75760" y="1700784"/>
            <a:ext cx="1886712" cy="49377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21480" y="1728216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0.191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1700784"/>
            <a:ext cx="1886712" cy="49377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28216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0.252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85760" y="1700784"/>
            <a:ext cx="1886712" cy="49377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31480" y="1728216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90760" y="1700784"/>
            <a:ext cx="1886712" cy="49377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36480" y="1728216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212848"/>
            <a:ext cx="1886712" cy="49377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240280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CP-transfer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70760" y="2212848"/>
            <a:ext cx="1886712" cy="49377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16480" y="2240280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0.065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5760" y="2212848"/>
            <a:ext cx="1886712" cy="49377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21480" y="2240280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0.183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212848"/>
            <a:ext cx="1886712" cy="49377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2240280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5760" y="2212848"/>
            <a:ext cx="1886712" cy="49377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31480" y="2240280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0.199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90760" y="2212848"/>
            <a:ext cx="1886712" cy="49377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36480" y="2240280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0.227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2724912"/>
            <a:ext cx="1886712" cy="493776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2752344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WP-small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70760" y="2724912"/>
            <a:ext cx="1886712" cy="493776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16480" y="2752344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0.056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75760" y="2724912"/>
            <a:ext cx="1886712" cy="493776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21480" y="2752344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0.161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2724912"/>
            <a:ext cx="1886712" cy="493776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26480" y="2752344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0.215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85760" y="2724912"/>
            <a:ext cx="1886712" cy="493776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31480" y="2752344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0.177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0760" y="2724912"/>
            <a:ext cx="1886712" cy="493776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36480" y="2752344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236976"/>
            <a:ext cx="1886712" cy="493776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3264408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CP-cold-start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70760" y="3236976"/>
            <a:ext cx="1886712" cy="493776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16480" y="3264408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75760" y="3236976"/>
            <a:ext cx="1886712" cy="493776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21480" y="3264408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0.021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80760" y="3236976"/>
            <a:ext cx="1886712" cy="493776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26480" y="3264408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0.040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85760" y="3236976"/>
            <a:ext cx="1886712" cy="493776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31480" y="3264408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0.039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90760" y="3236976"/>
            <a:ext cx="1886712" cy="493776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36480" y="3264408"/>
            <a:ext cx="181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3977639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CP-transfer consistently sits between WP-small and WP-large across ALL metrics (87 Python pairs)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Low aggregate means are driven by hard large-codebase targets (scipy 438K LoC, sympy 696K LoC)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Best pairs (e.g. numpy→jupyterlab) reach MAP=0.770, MRR=0.793 — competitive with cross-project SOTA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SOTA cross-project methods (TRANP-CNN original, FLIM, COOBA) report MAP/MRR ≈ 0.3–0.5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CP-cold-start is very low — zero-shot transfer without fine-tuning is limited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Finding 1: CPL Significantly Improves Ranking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CP-transfer vs WP-small — Wilcoxon signed-rank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4937760" cy="4114800"/>
          </a:xfrm>
          <a:prstGeom prst="rect">
            <a:avLst/>
          </a:prstGeom>
          <a:solidFill>
            <a:srgbClr val="E8EAF0"/>
          </a:solidFill>
          <a:ln w="1524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📐  Wilcoxon Signed-Rank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A non-parametric paired statistical test.
Use case: we have 85 paired observations
(CP-transfer MRR, WP-small MRR) for the
same 14-project Python corpus. We ask:
is CP-transfer systematically higher?
Null hypothesis H₀: no difference.
Alternative H₁: CP-transfer &gt; WP-small.
p &lt; 0.05 → reject H₀ → difference is real.
★ ★ ★ = p &lt; 0.001  ★ ★ = p &lt; 0.01  ★ = p &lt; 0.05  ns = not significant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188720"/>
            <a:ext cx="155905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1225296"/>
            <a:ext cx="14859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63740" y="1188720"/>
            <a:ext cx="155905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9460" y="1225296"/>
            <a:ext cx="14859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Win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1188720"/>
            <a:ext cx="155905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1225296"/>
            <a:ext cx="14859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Mean 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18420" y="1188720"/>
            <a:ext cx="155905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64140" y="1225296"/>
            <a:ext cx="14859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p-value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1645920"/>
            <a:ext cx="155905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16733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3740" y="1645920"/>
            <a:ext cx="155905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9460" y="16733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36.5%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645920"/>
            <a:ext cx="155905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16733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+0.008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18420" y="1645920"/>
            <a:ext cx="155905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64140" y="16733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0.112  (ns)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103120"/>
            <a:ext cx="155905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1305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63740" y="2103120"/>
            <a:ext cx="155905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09460" y="21305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43.5%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41080" y="2103120"/>
            <a:ext cx="155905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1305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18420" y="2103120"/>
            <a:ext cx="155905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64140" y="21305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0.019  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5603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20" y="25877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63740" y="25603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09460" y="25877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47.1%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41080" y="25603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5877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+0.027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18420" y="25603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64140" y="25877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0.001  ★★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30175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32120" y="30449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MAP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63740" y="30175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09460" y="30449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63.5%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30175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0" y="30449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+0.020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218420" y="30175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64140" y="30449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0.011  ★★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34747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32120" y="35021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63740" y="34747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09460" y="35021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67.1%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41080" y="34747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0" y="35021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+0.023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218420" y="3474720"/>
            <a:ext cx="155905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64140" y="3502152"/>
            <a:ext cx="14859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0.008  ★★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0" y="4114800"/>
            <a:ext cx="6309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MAP and MRR: CP-transfer wins significantly (p &lt; 0.01) in 64–67% of pairs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Top-1 improvement is NOT significant — CPL improves ranking, not pinpoint precision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Interpretation: cross-project pre-training gives a better relative ordering of files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Finding 2: CP-transfer Matches WP-large on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Top-K and MAP/MRR tell different stories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8392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25296"/>
            <a:ext cx="27660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260" y="1188720"/>
            <a:ext cx="28392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8980" y="1225296"/>
            <a:ext cx="27660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CP-transfer ≥ WP-large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188720"/>
            <a:ext cx="28392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225296"/>
            <a:ext cx="27660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Within 10% of WP-large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260" y="1188720"/>
            <a:ext cx="28392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83980" y="1225296"/>
            <a:ext cx="27660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Mean gap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459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6733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23260" y="16459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8980" y="16733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54.3% (50/92)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16459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16733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62.0% (57/92)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38260" y="16459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83980" y="16733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−0.018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1031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1305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3260" y="21031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68980" y="21305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52.2% (48/92)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21031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21305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57.6% (53/92)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38260" y="21031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83980" y="21305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−0.012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5603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5877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23260" y="25603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68980" y="25877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53.3% (49/92)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25603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25877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63.0% (58/92)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38260" y="2560320"/>
            <a:ext cx="283921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83980" y="25877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−0.010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017520"/>
            <a:ext cx="2839212" cy="43891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30449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23260" y="3017520"/>
            <a:ext cx="2839212" cy="43891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68980" y="30449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30.4% (28/92)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3017520"/>
            <a:ext cx="2839212" cy="43891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30449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41.3% (38/92)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38260" y="3017520"/>
            <a:ext cx="2839212" cy="43891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83980" y="30449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−0.023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474720"/>
            <a:ext cx="2839212" cy="43891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35021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23260" y="3474720"/>
            <a:ext cx="2839212" cy="43891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68980" y="35021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32.6% (30/92)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3474720"/>
            <a:ext cx="2839212" cy="43891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26480" y="35021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47.8% (44/92)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38260" y="3474720"/>
            <a:ext cx="2839212" cy="43891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83980" y="3502152"/>
            <a:ext cx="27660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4160520"/>
            <a:ext cx="11155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For RECALL (Top-K): CP-transfer matches or beats WP-large in 52–54% of pairs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For RANKING (MAP/MRR): WP-large retains advantage (~70% of pairs)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Practical implication: for tools showing a shortlist of 10 files, CP-transfer ≈ WP-large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CP-transfer uses the same 20% target data as WP-small — no extra annotation cost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Finding 3: CPL Benefit is 3–4× Larger for Data-Scarce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CPL is most valuable exactly where it is most needed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267712" cy="5257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25296"/>
            <a:ext cx="2194560" cy="48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Target group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188720"/>
            <a:ext cx="2267712" cy="5257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80" y="1225296"/>
            <a:ext cx="2194560" cy="48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Top-5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188720"/>
            <a:ext cx="2267712" cy="5257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1225296"/>
            <a:ext cx="2194560" cy="48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Top-10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188720"/>
            <a:ext cx="2267712" cy="5257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225296"/>
            <a:ext cx="2194560" cy="48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MAP gain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188720"/>
            <a:ext cx="2267712" cy="5257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1225296"/>
            <a:ext cx="2194560" cy="48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MRR gain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714500"/>
            <a:ext cx="2267712" cy="50749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74193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Few bugs (≤228 bugs, n=48)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1714500"/>
            <a:ext cx="2267712" cy="50749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174193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+0.034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1714500"/>
            <a:ext cx="2267712" cy="50749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174193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1714500"/>
            <a:ext cx="2267712" cy="50749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174193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+0.029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9760" y="1714500"/>
            <a:ext cx="2267712" cy="50749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174193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+0.032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240280"/>
            <a:ext cx="2267712" cy="50749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26771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Many bugs (&gt;228 bugs, n=46)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2240280"/>
            <a:ext cx="2267712" cy="50749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80" y="226771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+0.007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2240280"/>
            <a:ext cx="2267712" cy="50749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226771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+0.007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3760" y="2240280"/>
            <a:ext cx="2267712" cy="50749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226771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+0.011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09760" y="2240280"/>
            <a:ext cx="2267712" cy="50749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5480" y="226771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766060"/>
            <a:ext cx="2267712" cy="50749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79349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Ratio (few / many)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51760" y="2766060"/>
            <a:ext cx="2267712" cy="50749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97480" y="279349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4.9×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0" y="2766060"/>
            <a:ext cx="2267712" cy="50749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83480" y="279349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6.1×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0" y="2766060"/>
            <a:ext cx="2267712" cy="50749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279349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2.6×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9760" y="2766060"/>
            <a:ext cx="2267712" cy="50749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55480" y="2793492"/>
            <a:ext cx="2194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2.7×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3474720"/>
            <a:ext cx="111556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Split at median target bug count (228 bugs) — roughly equal group sizes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CPL gain = CP-transfer MRR − WP-small MRR for the same pair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For data-scarce targets: mean Top-10 gain = +0.043 (significant improvement)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For data-rich targets: gain drops to +0.007 — WP-large is already adequate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Deployment recommendation: prefer CPL when target has &lt; 200 historical bugs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Finding 4: Target Codebase Size is the Dominant Predictor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Spearman correlation analysis across all 5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4846320" cy="4206240"/>
          </a:xfrm>
          <a:prstGeom prst="rect">
            <a:avLst/>
          </a:prstGeom>
          <a:solidFill>
            <a:srgbClr val="E8EAF0"/>
          </a:solidFill>
          <a:ln w="1524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📐  Spearman Rank Correlation (ρ)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4572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Measures how monotonically two variables
are related — without assuming linearity.
ρ = +1.0 → perfect positive relationship
ρ = −1.0 → perfect negative relationship
ρ =  0.0 → no relationship
Significance: p &lt; 0.05 needed to claim the
correlation is not due to chance.
Example: ρ(tgt_LoC, Top-10) = −0.856***
means: as target codebase gets larger,
Top-10 recall drops very consistently.
Why Spearman not Pearson? Projects span
39K–1M LoC — highly skewed; Pearson
assumes linear scale, Spearman doesn't.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49240" y="1188720"/>
            <a:ext cx="1280160" cy="40494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1225296"/>
            <a:ext cx="1207008" cy="36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47688" y="1188720"/>
            <a:ext cx="1280160" cy="40494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1225296"/>
            <a:ext cx="1207008" cy="36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Top-10 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6136" y="1188720"/>
            <a:ext cx="1280160" cy="40494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1225296"/>
            <a:ext cx="1207008" cy="36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MAP 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44584" y="1188720"/>
            <a:ext cx="1280160" cy="40494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4" y="1225296"/>
            <a:ext cx="1207008" cy="36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MRR 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43032" y="1188720"/>
            <a:ext cx="1280160" cy="40494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88752" y="1225296"/>
            <a:ext cx="1207008" cy="36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Sig.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1593668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1621100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tgt_LoC (target size)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47688" y="1593668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1621100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−0.856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46136" y="1593668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91856" y="1621100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−0.694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44584" y="1593668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0304" y="1621100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−0.699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43032" y="1593668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1621100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★★★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49240" y="1998617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0" y="2026049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tgt_bug_verbosity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47688" y="1998617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2026049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+0.425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46136" y="1998617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6" y="2026049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+0.408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44584" y="1998617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90304" y="2026049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+0.343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43032" y="1998617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88752" y="2026049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★★★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2403565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0" y="2430997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src_LoC (source size)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2403565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93408" y="2430997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+0.407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46136" y="2403565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91856" y="2430997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44584" y="2403565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2430997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+0.321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543032" y="2403565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88752" y="2430997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★★★/★★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2808514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94960" y="2835946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tgt_n_bugs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47688" y="2808514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93408" y="2835946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+0.257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46136" y="2808514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91856" y="2835946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+0.354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44584" y="2808514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90304" y="2835946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+0.386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543032" y="2808514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88752" y="2835946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★ / ★★★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3213462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94960" y="3240894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src_n_bugs (source bugs)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47688" y="3213462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93408" y="3240894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−0.006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213462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91856" y="3240894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3213462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90304" y="3240894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+0.064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3032" y="3213462"/>
            <a:ext cx="1280160" cy="386660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88752" y="3240894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ns 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49240" y="3618411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94960" y="3645843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domain_gap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47688" y="3618411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93408" y="3645843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&lt; |0.12|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946136" y="3618411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991856" y="3645843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&lt; |0.12|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44584" y="3618411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90304" y="3645843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&lt; |0.12|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543032" y="3618411"/>
            <a:ext cx="1280160" cy="386660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588752" y="3645843"/>
            <a:ext cx="1207008" cy="35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ns all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49240" y="4206240"/>
            <a:ext cx="6492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tgt_LoC dominates: ρ = −0.856 for Top-10 — large codebase = harder localisation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src_LoC is also significant (+0.407): larger source = richer training signal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tgt_bug_verbosity: detailed reports give stronger embedding signal (+0.425)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Source bug count and domain gap: NO significant predictive power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Finding 5: FAISS Retrieval is Not the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pct_unreachable = 0% — every failure is a model ranking failure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34440"/>
            <a:ext cx="5760720" cy="118872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CAF50"/>
                </a:solidFill>
              </a:rPr>
              <a:t>pct_unreachable = 0.00%  across all 94 pairs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920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1A233A"/>
                </a:solidFill>
              </a:rPr>
              <a:t>Every ground-truth file was present in FAISS top-300 candidates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Pipeline: FAISS retrieves top-300 files → TRANP-CNN reranks them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If GT file is NOT in top-300: model cannot fix it (unreachable)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If GT file IS in top-300 but ranked below top-10: that is a model ranking failure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Our result: 0% unreachable → ALL failures are ranking failures, not retrieval failures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Implication: improving the reranking architecture directly improves all metrics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Increasing TOP_K_CANDIDATES beyond 300 will not help — embeddings are already sufficient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This validates the research direction: better reranker (transformer, GNN) = better results</a:t>
            </a:r>
          </a:p>
        </p:txBody>
      </p:sp>
      <p:pic>
        <p:nvPicPr>
          <p:cNvPr id="12" name="Picture 11" descr="mod3_stacked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234440"/>
            <a:ext cx="320040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Finding 6: CPL is Not Commutative — Direction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Showcase Pair A: matplotlib ↔ jupyterlab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267712" cy="42062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252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Direction (metric)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188720"/>
            <a:ext cx="2267712" cy="42062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80" y="12252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WP-small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188720"/>
            <a:ext cx="2267712" cy="42062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12252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WP-large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188720"/>
            <a:ext cx="2267712" cy="42062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2252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CP-cold-start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188720"/>
            <a:ext cx="2267712" cy="420624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12252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CP-transfer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609344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63677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matplotlib→jupyterlab 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1609344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163677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0.472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1609344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163677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0.587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1609344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163677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9760" y="1609344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163677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0.665 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029968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057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matplotlib→jupyterlab  MRR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2029968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80" y="2057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0.480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2029968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2057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0.589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3760" y="2029968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2057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09760" y="2029968"/>
            <a:ext cx="2267712" cy="402336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5480" y="2057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0.667 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450592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478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jupyterlab→matplotlib  MAP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51760" y="2450592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97480" y="2478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0.373 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0" y="2450592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83480" y="2478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0" y="2450592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2478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0.320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9760" y="2450592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55480" y="2478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0.236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2871216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2898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jupyterlab→matplotlib  MRR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51760" y="2871216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97480" y="2898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0.373 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0" y="2871216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83480" y="2898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23760" y="2871216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69480" y="2898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0.320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09760" y="2871216"/>
            <a:ext cx="2267712" cy="402336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5480" y="2898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0.236</a:t>
            </a:r>
          </a:p>
        </p:txBody>
      </p:sp>
      <p:pic>
        <p:nvPicPr>
          <p:cNvPr id="58" name="Picture 57" descr="commutativity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971800"/>
            <a:ext cx="7132320" cy="338328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98079" y="301752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Same domain gap (0.972), same two projects — just swapped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Forward: jupyterlab = 39K LoC target → easy to rank → CPL wins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Reverse: matplotlib = 249K LoC target → correct file buried → CPL hurts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WP-large even loses to WP-small for jupyterlab→matplotlib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Rule: TARGET codebase size determines difficulty, not source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Showcase Pair B: numpy → jupyterlab  (Best CPL Performer)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jupyterlab: 39K LoC — CP-transfer MAP=0.703, MRR=0.720;  33× improvement over FAISS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972312" cy="4419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25296"/>
            <a:ext cx="899160" cy="405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6360" y="1188720"/>
            <a:ext cx="972312" cy="4419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02080" y="1225296"/>
            <a:ext cx="899160" cy="405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6960" y="1188720"/>
            <a:ext cx="972312" cy="4419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2680" y="1225296"/>
            <a:ext cx="899160" cy="405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1188720"/>
            <a:ext cx="972312" cy="4419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225296"/>
            <a:ext cx="899160" cy="405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8160" y="1188720"/>
            <a:ext cx="972312" cy="4419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3880" y="1225296"/>
            <a:ext cx="899160" cy="405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8760" y="1188720"/>
            <a:ext cx="972312" cy="4419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4480" y="1225296"/>
            <a:ext cx="899160" cy="405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630680"/>
            <a:ext cx="972312" cy="42367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65811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WP-large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56360" y="1630680"/>
            <a:ext cx="972312" cy="42367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2080" y="165811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0.325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46960" y="1630680"/>
            <a:ext cx="972312" cy="42367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92680" y="165811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1630680"/>
            <a:ext cx="972312" cy="42367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165811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8160" y="1630680"/>
            <a:ext cx="972312" cy="42367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3880" y="165811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0.770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8760" y="1630680"/>
            <a:ext cx="972312" cy="42367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64480" y="165811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0.793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072640"/>
            <a:ext cx="972312" cy="42367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10007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CP-transfer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6360" y="2072640"/>
            <a:ext cx="972312" cy="42367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02080" y="210007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0.275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46960" y="2072640"/>
            <a:ext cx="972312" cy="42367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92680" y="210007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0.500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37560" y="2072640"/>
            <a:ext cx="972312" cy="42367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210007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8160" y="2072640"/>
            <a:ext cx="972312" cy="42367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3880" y="210007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0.703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18760" y="2072640"/>
            <a:ext cx="972312" cy="42367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64480" y="210007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0.720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2514600"/>
            <a:ext cx="972312" cy="42367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254203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WP-small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56360" y="2514600"/>
            <a:ext cx="972312" cy="42367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2080" y="254203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0.125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46960" y="2514600"/>
            <a:ext cx="972312" cy="42367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92680" y="254203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0.475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2514600"/>
            <a:ext cx="972312" cy="42367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280" y="254203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0.500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28160" y="2514600"/>
            <a:ext cx="972312" cy="42367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3880" y="254203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0.488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18760" y="2514600"/>
            <a:ext cx="972312" cy="423672"/>
          </a:xfrm>
          <a:prstGeom prst="rect">
            <a:avLst/>
          </a:prstGeom>
          <a:solidFill>
            <a:srgbClr val="E3F2FD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64480" y="254203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0.495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2956560"/>
            <a:ext cx="972312" cy="42367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298399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CP-cold-start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56360" y="2956560"/>
            <a:ext cx="972312" cy="42367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02080" y="298399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0.075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6960" y="2956560"/>
            <a:ext cx="972312" cy="42367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2680" y="298399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37560" y="2956560"/>
            <a:ext cx="972312" cy="42367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83280" y="298399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0.300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8160" y="2956560"/>
            <a:ext cx="972312" cy="42367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73880" y="298399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0.263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18760" y="2956560"/>
            <a:ext cx="972312" cy="423672"/>
          </a:xfrm>
          <a:prstGeom prst="rect">
            <a:avLst/>
          </a:prstGeom>
          <a:solidFill>
            <a:srgbClr val="FFF3E0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64480" y="298399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0.289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3398520"/>
            <a:ext cx="972312" cy="42367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342595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FAISS baseline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56360" y="3398520"/>
            <a:ext cx="972312" cy="42367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02080" y="342595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346960" y="3398520"/>
            <a:ext cx="972312" cy="42367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92680" y="342595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37560" y="3398520"/>
            <a:ext cx="972312" cy="42367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383280" y="342595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28160" y="3398520"/>
            <a:ext cx="972312" cy="42367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73880" y="342595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18760" y="3398520"/>
            <a:ext cx="972312" cy="42367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64480" y="3425952"/>
            <a:ext cx="89916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0.022</a:t>
            </a:r>
          </a:p>
        </p:txBody>
      </p:sp>
      <p:pic>
        <p:nvPicPr>
          <p:cNvPr id="80" name="Picture 79" descr="all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43000"/>
            <a:ext cx="5577840" cy="521208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365760" y="4023360"/>
            <a:ext cx="5943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CP-transfer MAP=0.703, MRR=0.720 ≈ WP-large MAP=0.770, MRR=0.793 (~9% gap)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Both CP-transfer and WP-large: Top-10=0.500 (maximum for this test split)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FAISS MRR = 0.022 → reranker achieves 33× improvement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Exceeds cross-project SOTA range (MAP/MRR ≈ 0.3–0.5)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Zero-shot cold-start MRR=0.289 — non-trivial transfer even without fine-tuning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Showcase Pair C: numpy → scipy  (Hard Target Ceiling)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438K LoC codebase — model improves ranks but cannot break top-10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9723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25296"/>
            <a:ext cx="899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6360" y="1188720"/>
            <a:ext cx="9723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02080" y="1225296"/>
            <a:ext cx="899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6960" y="1188720"/>
            <a:ext cx="9723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2680" y="1225296"/>
            <a:ext cx="899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1188720"/>
            <a:ext cx="9723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225296"/>
            <a:ext cx="899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Top-10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8160" y="1188720"/>
            <a:ext cx="9723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3880" y="1225296"/>
            <a:ext cx="899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8760" y="1188720"/>
            <a:ext cx="97231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4480" y="1225296"/>
            <a:ext cx="899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6459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6733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WP-large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56360" y="16459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2080" y="16733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46960" y="16459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92680" y="16733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16459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16733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8160" y="16459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3880" y="16733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8760" y="16459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64480" y="16733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1031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1305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CP-transfer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6360" y="21031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02080" y="21305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46960" y="21031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92680" y="21305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37560" y="21031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21305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8160" y="21031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3880" y="21305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18760" y="21031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64480" y="21305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0.024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25603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25877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CP-cold-start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56360" y="25603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2080" y="25877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46960" y="25603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92680" y="25877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25603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280" y="25877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28160" y="25603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3880" y="25877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18760" y="25603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64480" y="25877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175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30449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WP-small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56360" y="30175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02080" y="30449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6960" y="30175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2680" y="30449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37560" y="30175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83280" y="30449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8160" y="30175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73880" y="30449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18760" y="3017520"/>
            <a:ext cx="972312" cy="438912"/>
          </a:xfrm>
          <a:prstGeom prst="rect">
            <a:avLst/>
          </a:prstGeom>
          <a:solidFill>
            <a:srgbClr val="FFCCB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64480" y="3044952"/>
            <a:ext cx="899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0.004</a:t>
            </a:r>
          </a:p>
        </p:txBody>
      </p:sp>
      <p:pic>
        <p:nvPicPr>
          <p:cNvPr id="68" name="Picture 67" descr="rank_displacement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43000"/>
            <a:ext cx="5852160" cy="292608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365760" y="3703320"/>
            <a:ext cx="111556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scipy: 438,217 LoC — all Top-K = 0.000 but MAP/MRR nonzero (~0.004–0.030)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MAP=0.030 (WP-large): GT file is being ranked, just not inside top-10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pct_unreachable = 0% — GT file IS in FAISS top-300 every time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Rank displacement positive: model DOES improve GT file rank vs FAISS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But: 438K LoC search space means even rank 36 misses top-10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TARGET VIABILITY failure, not source selection failure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Source Project Selection — Can We Pick the Best Source?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Kendall τ analysis across 12 targets with ≥3 source candidates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4846320" cy="3931920"/>
          </a:xfrm>
          <a:prstGeom prst="rect">
            <a:avLst/>
          </a:prstGeom>
          <a:solidFill>
            <a:srgbClr val="E8EAF0"/>
          </a:solidFill>
          <a:ln w="1524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📐  Kendall Rank Correlation (τ)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4572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A"/>
                </a:solidFill>
              </a:rPr>
              <a:t>Measures whether one ranking agrees with
another. For each target project:
• Sort sources by heuristic score
• Sort sources by actual CP-transfer MRR
• τ = agreement between these two orderings
τ = +1 → heuristic perfectly matches oracle
τ = −1 → heuristic is perfectly reversed
τ = 0  → heuristic is random
We also use Hit@1: did the top-ranked source
by heuristic turn out to be the best source
by actual performance?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49240" y="1188720"/>
            <a:ext cx="160477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1225296"/>
            <a:ext cx="15316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Strategy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72300" y="1188720"/>
            <a:ext cx="160477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8020" y="1225296"/>
            <a:ext cx="15316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Hit@1 (MRR)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188720"/>
            <a:ext cx="160477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1225296"/>
            <a:ext cx="15316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Hit@1 (MAP)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18420" y="1188720"/>
            <a:ext cx="1604772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64140" y="1225296"/>
            <a:ext cx="15316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Mean τ (MRR)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9240" y="1645920"/>
            <a:ext cx="160477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16733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Oracle (upper bound)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72300" y="1645920"/>
            <a:ext cx="160477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18020" y="16733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1645920"/>
            <a:ext cx="160477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16733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18420" y="1645920"/>
            <a:ext cx="1604772" cy="438912"/>
          </a:xfrm>
          <a:prstGeom prst="rect">
            <a:avLst/>
          </a:prstGeom>
          <a:solidFill>
            <a:srgbClr val="E8F5E9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64140" y="16733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+1.00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2103120"/>
            <a:ext cx="1604772" cy="43891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21305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Most-bugs heuristic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72300" y="2103120"/>
            <a:ext cx="1604772" cy="43891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18020" y="21305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41.7%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2103120"/>
            <a:ext cx="1604772" cy="43891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21305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41.7%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18420" y="2103120"/>
            <a:ext cx="1604772" cy="438912"/>
          </a:xfrm>
          <a:prstGeom prst="rect">
            <a:avLst/>
          </a:prstGeom>
          <a:solidFill>
            <a:srgbClr val="FCE4EC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64140" y="21305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+0.253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49240" y="2560320"/>
            <a:ext cx="160477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0" y="25877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Random (lower bound)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72300" y="2560320"/>
            <a:ext cx="160477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18020" y="25877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~15%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560320"/>
            <a:ext cx="160477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41080" y="25877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~15%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18420" y="2560320"/>
            <a:ext cx="1604772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64140" y="2587752"/>
            <a:ext cx="15316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~0.00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49240" y="32004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Most-bugs = pick the source with the most bug reports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Hit@1 = 41.7%: correct in fewer than half of cases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τ = +0.253: positive ordering signal — larger sources tend to be better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Captures ~53% of the gap between random and oracle selection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Source selection is PARTIALLY solved — not an algorithm, a useful heuristic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Practical Decision Framework for CPL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Two-phase strategy: target viability first, then source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4114800"/>
          </a:xfrm>
          <a:prstGeom prst="rect">
            <a:avLst/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196F3"/>
                </a:solidFill>
              </a:rPr>
              <a:t>Phase 1 — Target Viability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8308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Target LoC &gt; 200K?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→ CPL will underperform regardless of source (ρ = −0.855)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Bug report verbosity very low (&lt; 30 words)?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→ Insufficient signal for any model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Target has &gt; 300 historical bugs?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→ WP-large may be more reliable; CPL gain smaller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✓  If target passes: proceed to source selection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188720"/>
            <a:ext cx="5760720" cy="4114800"/>
          </a:xfrm>
          <a:prstGeom prst="rect">
            <a:avLst/>
          </a:prstGeom>
          <a:solidFill>
            <a:srgbClr val="FCE4EC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618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91E63"/>
                </a:solidFill>
              </a:rPr>
              <a:t>Phase 2 — Source Selection Heuristics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78308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S1: Default — pick source with MOST bug reports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      (Hit@1 = 41.7%, Kendall τ = +0.25)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S2: Among tied sources — prefer larger codebase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      (src_LoC has weak positive signal: ρ ≈ +0.27)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S3: DO NOT use domain gap as filter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      (ρ &lt; 0.12, non-significant for all metrics)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S4: DO NOT use bug/code similarity as ranking signal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      (no significant correlation in our dataset)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4864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C4DFF"/>
                </a:solidFill>
              </a:rPr>
              <a:t>This is a set of strategies, not an algorithm. Hit@1 = 41.7% means the heuristic fails 58% of the time. Learned source selection is an open research problem.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Research Contributions &amp;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What this study establishes for the CPL literature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3791712" cy="38862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25296"/>
            <a:ext cx="3718560" cy="35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Contribution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75760" y="1188720"/>
            <a:ext cx="3791712" cy="38862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1480" y="1225296"/>
            <a:ext cx="3718560" cy="35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85760" y="1188720"/>
            <a:ext cx="3791712" cy="38862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1480" y="1225296"/>
            <a:ext cx="3718560" cy="352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Metric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7734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60477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CPL improves ranking over WP-small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760" y="157734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1480" y="160477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67.1% win rate, p=0.008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60" y="157734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31480" y="160477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MRR,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96596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99339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CPL achieves WP-large recall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75760" y="196596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21480" y="199339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&gt;50% pairs Top-10 match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85760" y="196596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31480" y="199339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5458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38201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CPL most valuable for data-scarce targets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75760" y="235458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21480" y="238201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3–4× gain, few-bug targets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85760" y="235458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31480" y="238201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Top-10, MRR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74320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77063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Target LoC is dominant predictor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75760" y="274320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21480" y="277063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ρ = −0.856 for Top-10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85760" y="274320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31480" y="277063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All metrics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13182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15925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src_LoC is also significant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75760" y="313182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21480" y="315925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ρ = +0.407; larger source wins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85760" y="313182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31480" y="315925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Top-10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52044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54787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Source selection: most-bugs heuristic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75760" y="352044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21480" y="354787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Hit@1=41.7%, τ=+0.25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85760" y="3520440"/>
            <a:ext cx="3791712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31480" y="354787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MRR, MAP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90906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393649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Architecture is the bottleneck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75760" y="390906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21480" y="393649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pct_unreachable = 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85760" y="3909060"/>
            <a:ext cx="3791712" cy="370332"/>
          </a:xfrm>
          <a:prstGeom prst="rect">
            <a:avLst/>
          </a:prstGeom>
          <a:solidFill>
            <a:srgbClr val="F5F5F5"/>
          </a:solidFill>
          <a:ln w="63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31480" y="3936492"/>
            <a:ext cx="3718560" cy="333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33A"/>
                </a:solidFill>
              </a:rPr>
              <a:t>Diagnostic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448056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For new projects (&lt; 200 historical bugs): CPL is the recommended default strategy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Domain gap filtering is NOT needed — dissimilar projects can still transfer well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Better reranking architecture is the clearest path to higher MRR/MAP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Source selection remains an open problem — 58% of the time the heuristic misses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F5F5"/>
                </a:solidFill>
              </a:rPr>
              <a:t>Honest framing + what comes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>TRANP-CNN Phase 1 — CPL Results  |  PhD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33A"/>
                </a:solidFill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4592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Aggregate MRR 0.20–0.25 is depressed by large-codebase targets — best pairs reach MAP=0.770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TRANP-CNN original paper tested on Java within-project; no Python cross-project baseline exists in literature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Cross-project SOTA range (MAP/MRR ≈ 0.3–0.5) — our Pair B exceeds this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Phase 1 is Python-only; generalisation to Java/Kotlin/polyglot projects is future work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Source selection Hit@1 = 41.7% — heuristic works in fewer than half of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1887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33A"/>
                </a:solidFill>
              </a:rP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4592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Learned source selection meta-model: train on pair outcomes to predict source quality for unseen targets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Multi-source ensembling: combine all sources rather than picking one — may outperform selection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Transformer/GNN reranker: replace TRANP-CNN CNN architecture to reduce the ranking gap vs WP-large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COOBA comparison: run same Phase 1 analysis for COOBA (GNN-based) and compare transfer behaviour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3A"/>
                </a:solidFill>
              </a:rPr>
              <a:t>▸ Large-codebase architecture: hierarchical or retrieval-augmented reranker for &gt; 200K LoC targets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349240"/>
            <a:ext cx="11612880" cy="7315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440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Core message: CPL is the right strategy for data-limited targets. The bottleneck is now the reranking architecture, not the retrieval or the transfer mechanism.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5577840" cy="1508760"/>
          </a:xfrm>
          <a:prstGeom prst="rect">
            <a:avLst/>
          </a:prstGeom>
          <a:solidFill>
            <a:srgbClr val="252D3D"/>
          </a:solidFill>
          <a:ln w="2540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02920" cy="15087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320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1E63"/>
                </a:solidFill>
              </a:rPr>
              <a:t>CP-transfer beats WP-small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</a:rPr>
              <a:t>67.1% of pairs (p=0.008) — ranking quality improves significantly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577840" cy="1508760"/>
          </a:xfrm>
          <a:prstGeom prst="rect">
            <a:avLst/>
          </a:prstGeom>
          <a:solidFill>
            <a:srgbClr val="252D3D"/>
          </a:solidFill>
          <a:ln w="254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502920" cy="15087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320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96F3"/>
                </a:solidFill>
              </a:rPr>
              <a:t>Best pairs exceed cross-project SOTA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9202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</a:rPr>
              <a:t>Pair B: MAP=0.703, MRR=0.720 (SOTA range 0.3–0.5)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063240"/>
            <a:ext cx="5577840" cy="1508760"/>
          </a:xfrm>
          <a:prstGeom prst="rect">
            <a:avLst/>
          </a:prstGeom>
          <a:solidFill>
            <a:srgbClr val="252D3D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063240"/>
            <a:ext cx="502920" cy="1508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520440"/>
            <a:ext cx="320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546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Most valuable when data is scarce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6118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</a:rPr>
              <a:t>3–4× gain for targets with &lt; median bug count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063240"/>
            <a:ext cx="5577840" cy="1508760"/>
          </a:xfrm>
          <a:prstGeom prst="rect">
            <a:avLst/>
          </a:prstGeom>
          <a:solidFill>
            <a:srgbClr val="252D3D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63240"/>
            <a:ext cx="502920" cy="1508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520440"/>
            <a:ext cx="320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1546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800"/>
                </a:solidFill>
              </a:rPr>
              <a:t>Target LoC governs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118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</a:rPr>
              <a:t>tgt_LoC ρ = −0.856; src_LoC ρ = +0.407 (significant)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754880"/>
            <a:ext cx="5577840" cy="1508760"/>
          </a:xfrm>
          <a:prstGeom prst="rect">
            <a:avLst/>
          </a:prstGeom>
          <a:solidFill>
            <a:srgbClr val="252D3D"/>
          </a:solidFill>
          <a:ln w="254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754880"/>
            <a:ext cx="502920" cy="150876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212080"/>
            <a:ext cx="320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4DFF"/>
                </a:solidFill>
              </a:rPr>
              <a:t>Source selection = heuristic, not algorithm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035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</a:rPr>
              <a:t>Most-bugs heuristic: Hit@1 = 41.7%, τ = +0.25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754880"/>
            <a:ext cx="5577840" cy="1508760"/>
          </a:xfrm>
          <a:prstGeom prst="rect">
            <a:avLst/>
          </a:prstGeom>
          <a:solidFill>
            <a:srgbClr val="252D3D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4754880"/>
            <a:ext cx="502920" cy="1508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212080"/>
            <a:ext cx="320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8463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Architecture is the remaining challenge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3035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</a:rPr>
              <a:t>pct_unreachable = 0% — improve reranker, not retrieval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9090"/>
                </a:solidFill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